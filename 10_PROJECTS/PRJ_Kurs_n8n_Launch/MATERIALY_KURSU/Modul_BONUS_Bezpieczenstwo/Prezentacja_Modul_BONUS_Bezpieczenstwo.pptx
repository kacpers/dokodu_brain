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Otwieramy mocno — nie suchą teorią, ale konkretnym incydentem. Chwila ciszy po slajdzie przed przejściem dalej.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mówi to z energią — to jest przewaga konkurencyjna kursu. Podkreśl '5 miesięcy' — jest konkretna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tę mapę i wróć do niej na początku każdego segmentu — uczący wiedzą gdzie są.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tabelę, powiedz że pokażemy demo obu podejść. Nie strasz Vaultem na starcie.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— pokaż realny przykład z terminala jak wygenerować klucz. 'changeme na produkcji' — mówisz to z lekkim niedowierzaniem, bo naprawdę to widziałeś.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'złe vs dobre' — narysuj strzałki. Powiedz o OpenAI Projects jako narzędziu do izolacji kluczy.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 mówi ten slajd. Tabela jest konkretna — uczący często nie wiedzą że IP to dana osobowa. Zatrzymaj się przy pułapce na dole.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 tłumaczy tabele. Podkreśl że 'zgoda' jest najsłabszą podstawą — można ją wycofać. Uzasadniony interes jest mocniejszy ale wymaga dokumentacji.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— pokaż kod SHA-256 w n8n. Alina dodaje komentarz prawny: 'pseudonimizacja nie = anonimizacja, RODO nadal obowiązuje'.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pokazuje ten kod w n8n. Ważne: PSEUDONYM_SALT musi być w zmiennych środowiskowych — nie hardcoded. Zatrzymaj się przy 'skróć do 16 znaków' — wyjaśnij że pełny SHA-256 = 64 znaki, to za dużo dla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slajd to materiał do pobrania — PDF dla uczestników. Przejdź przez każdy punkt powoli. Alina komentuje sekcję 'Umowy' — to najczęściej pomijane.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rysuje diagram na żywo w n8n lub pokazuje gotowy blueprint. Alina komentuje '5 lat faktur' — wyjątek który zawsze ludzi zaskakuje.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 prowadzi ten slajd. Podkreśl '08.2026 = 5 miesięcy'. Zapytaj uczestników: 'kto wdraża coś do HR? Sprawdź czy to high-risk.'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 + Kacper wspólnie. Kacper dopowiada o konkretnych workflow n8n które mogą wpaść w high-risk. Podkreślcie: 'Nie wiemy wszystkiego — w razie wątpliwości: prawnik.'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 mówi o karach. Kacper pokazuje implementację w n8n chatbocie. '15 milionów euro' — to nie abstrakcja, to kwota.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rysuje diagram lub pokazuje gotowy. Podkreśl: 'jeśli teraz otwierasz przeglądarkę na IP:5678 — to problem.'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pokazuje ten plik i tłumaczy każdą linię. Zatrzymaj się przy `ssl_protocols TLSv1.3` — wyjaśnij czemu tylko 1.3. Przy headers — wyjaśnij X-Frame-Options (clickjacking).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demonstruje atak na demo środowisku. Uczniowie muszą zobaczyć że to działa. Dopiero potem pokaż zabezpieczenie.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Narysuj ten diagram powoli. To jeden z ważniejszych konceptów w module. Potem przejdź do kodu.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kopiuje ten kod do n8n live. Wyjaśnij `timingSafeEqual` — dlaczego zwykłe `===` jest podatne na timing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pokazuje konfigurację. Powiedz że IP whitelisting to bonus, nie substytut HMAC — atakujący mogą spoofować 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i Alina razem. To ważny punkt — uczący często logują za dużo. 'Dobry log opisuje zdarzenie, nie człowieka.'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pokazuje ten format. Wspomnij że pełny standard jest w materiałach do pobrania (Logging_Standard.md).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Kacper. To temat techniczny — pokaż diagram i powiedz że jest blueprint w materiałach kursu. Nie zanurzaj się za głęboko — osobny moduł mógłby być z tego.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Kacper. Presidio to element Zero-Trust AI Architecture Dokodu. Pokaż diagram. Powiedz że gotowy blueprint jest w materiałach.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Kacper + Alina razem. 'Każda warstwa samodzielnie nie wystarczy. Wszystkie razem = bezpieczna automatyzacja którą możesz pokazać klientowi enterprise.'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 kończy moduł. 'Compliance to inwestycja — klienci enterprise o to pytają. Agencja która to ma = agencja która wygrywa przetargi.'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BONUS BEZPIECZENSTWO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BONUS A — Prezentacja (27 slajdów)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 MODUŁU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Compliance w n8n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niezabezpieczony webhook = wyciek danych 10 000 klientów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BONUS A | ~90 minut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 Sieradzński + Alina Sieradzińska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TEN MODUŁ JEST INNY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 w Polsce tego nie robi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 kursy n8n: tylko "jak działa" — zero bezpieczeństwa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My: Tech (Kacper) + Legal (Alina) = pełny obraz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wchodzi w pełni 08.2026 — masz 5 miesięcy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tym module: wiesz co zrobić zanim klient zapyta o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OMÓWIMY — MAPA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obszarów bezpieczeństwa: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 — gdzie trzymasz sekrety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w automatyzacjach — dane osobowe w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które automatyzacje są high-risk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sieci — webhook, proxy, rate limiting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i audit trail — co zapisywać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tracking — dlaczego to ważne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 — ARCHITEKTURA WYBORU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built-in vault | HashiCorp Vault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---|---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1-2 środowiska | Enterprise, wiele środowisk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Szyfrowanie AES (klucz w env) | Dynamiczne sekrety, rotacja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Wystarczy do ~10 integracji | Wymagany przy audytach ISO 27001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Łatwa konfiguracja | Wymaga dedykowanego serwera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 Dokodu: n8n Credentials + silny N8N_ENCRYPTION_KEY = OK dla 90% projektów.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→ gdy klient pyta o certyfikaty bezpieczeństwa.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ENCRYPTION KEY — KRYTYCZNA KONFIGURACJA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Złe praktyki (realne z audytów):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N8N_ENCRYPTION_KEY=changeme — widziane na produkcji!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 w repozytorium git (historia nie kłamie)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klucz na dev i prod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praktyki: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 w .env → .env w .gitignore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Różne klucze per środowisko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klucza w bezpiecznym miejscu (1Password / Bitwarden)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N8N_ENCRYPTION_KEY=tu-wygeneruj-losowy-string-64-znaki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Generowanie bezpiecznego klucza: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rand -hex 32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ZASADA MINIMALNYCH UPRAWNIEŃ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klucz API do wszystkiego = jedna awaria do katastrofy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ZLE: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API Key: sk-... (jeden klucz, wszystkie workflowy)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A (email summary) — ma dostęp do billing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B (HR screening) — ma dostęp do wszystkiego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C (chatbot) — ma dostęp do wszystkiego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DOBRZE: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Project API Key dla Workflow A: tylko model gpt-4o-mini, bez fine-tuning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Project API Key dla Workflow B: osobny projekt, osobny monitoring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Project API Key dla Workflow C: rate limit 100 req/min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W N8N — CO TO JEST DANA OSOBOWA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widzisz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 to dana osobowa?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jan.kowalski@firma.pl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— bezpośrednia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192.168.1.45 (IP)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— gdy można powiązać z osobą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"Kowalski zamówił X"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— imię + działanie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klienta #12345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MOŻE — jeśli można przypisać do osoby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 zamówienia: 5000 PLN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 — samo w sobie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+ IP + User-Agent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— profilowanie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PODSTAWY PRAWNE PRZETWARZANIA (Art. 6 RODO)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Podstawa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Kiedy stosować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 w n8n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Zgoda (6a)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Marketing, newsletter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form → CRM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Umowa (6b)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klienta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parser, order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Uzasadniony interes (6f)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B2B, fraud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classifier dla supportu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Obowiązek prawny (6c)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Księgowość, podatki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Archiwizacja faktur 5 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PSEUDONIMIZACJA VS ANONIMIZACJA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Reguła: Pseudonimizacja redukuje ryzyko przy naruszeniu. Anonimizacja wyklucza cię z zakresu RODO dla tych danych.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PSEUDONIMIZACJA (odwracalna):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jan.kowalski@firma.pl → sha256("jan.kowalski@firma.pl") = "a3f2b1..."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Klucz mapowania: { "a3f2b1..." : "jan.kowalski@firma.pl"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Można odwrócić mając klucz mapowania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RODO nadal stosuje się do pseudonimizowanych danych!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ANONIMIZACJA (nieodwracalna):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jan.kowalski@firma.pl → "[EMAIL_REDACTED]"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Lub: 192.168.1.45 → "192.168.x.x" (obcięcie ostatniego oktetu)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Nie można odwrócić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RODO nie stosuje się (brak możliwości identyfikacji)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PSEUDONIMIZACJA W CODE NODE — KOD GOTOWY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Pseudonimizacja e-maila (SHA-256)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crypto = require('crypto');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pseudonymize = (value, salt = process.env.PSEUDONYM_SALT)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(!value) return null;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crypto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.createHash('sha256')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.update(salt + value.toLowerCase().trim())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.digest('hex')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.substring(0, 16); // skróć do 16 znaków — wystarczy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Użycie: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$input.all();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items.map(item =&gt; 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...item.json,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pseudonymize(item.json.email),     // "a3f2b1c4d5e6f7g8"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phone: pseudonymize(item.json.phone),     // pseudonimy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'[REDACTED]',                        // anonimizacja imienia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order_value: item.json.order_value,        // nie jest PII — zostaw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order_id: item.json.order_id,              // wewnętrzny ID — OK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 CHECKLIST DLA WORKFLOW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deploymentem produkcyjnym — sprawdź każdy punkt: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Zidentyfikowane wszystkie pola z PII (email, IP, imię, PESEL, telefon)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Zdefiniowana podstawa prawna (Art. 6 RODO) — zapisana w dokumentacji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Dane minimalne: czy zbierasz TYLKO to co potrzebujesz?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Czas retencji zdefiniowany i skonfigurowany technicznie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47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Techniczne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31336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PII nie trafia do logów n8n (wyłącz "Save Execution Data" dla wrażliwych węzłów)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Pseudonimizacja/anonimizacja przed wysyłką do zewnętrznych API (OpenAI, Google)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Szyfrowanie in-transit: TLS 1.3 na wszystkich połączeniach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Sekrety w Vault / env variables — nie w workflow JSON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55046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504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Umowy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888736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Umowa powierzenia przetwarzania (Art. 28) z klientem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DPA podpisane z dostawcami API (OpenAI, Google Cloud, Anthropic)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Prawo do usunięcia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Workflow do obsługi wniosków RTBF (Right to be Forgotten)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Zidentyfikowane wszystkie systemy gdzie dane są przechowywane (n8n, CRM, Google Sheets, baza)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Termin odpowiedzi: 30 dni — monitoring aktywny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PRAWO DO USUNIĘCIA DANYCH — AUTOMATYZACJA WNIOSKU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Termin: 30 dni od złożenia wniosku (RODO)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Niektórych danych nie możesz usunąć — faktury przechowujesz 5 lat (prawo podatkowe). Masz obowiązek poinformować osobę o tym wyjątku.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WORKFLOW: RTBF (Right to be Forgotten) Handler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[Webhook: wniosek RTBF]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[Weryfikacja tożsamości: token email]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[Wyszukanie we WSZYSTKICH systemach]: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CRM (HubSpot / Pipedrive)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Google Sheets (dane leadów)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Baza n8n (execution history)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Newsletter (MailerLite / ActiveCampaign)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[Usunięcie lub pseudonimizacja]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[Log do audytu: "data_deleted" event]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[Email potwierdzający do osoby]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[Zapis do rejestru RTBF (Art. 30 RODO)]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MAPA RYZYKA (2024/1689)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poziomy ryzyka — gdzie jesteś?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UNACCEPTABLE (ZAKAZANE od 02.2025)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Social scoring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Biometryka real-time w przestrzeni publicznej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Manipulacyjne AI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RISK (pełne wymagania od 08.2026)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HR: screening CV, ocena pracowników        ← UWAGA dla agencji!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Edukacja: ocenianie uczniów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Kredyty: scoring zdolności kredytowej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Infrastruktura krytyczna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 RISK (obowiązki transparency — TERAZ)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Chatboty: muszą poinformować że to AI      ← Większość projektów!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Deep-fake: obowiązek oznaczenia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AI-generated content: oznaczenie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 RISK (bez specjalnych wymogów)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Filtry antyspam, rekomendacje, gry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KTÓRE AUTOMATYZACJE SĄ HIGH-RISK?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automatyzacji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Klasyfikacja AI 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to oznacza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obsługi klienta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 w pierwszej wiadomości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classifier (support)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 specjalnego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screening / ranking kandydatów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Pełna dokumentacja, rejestracja EU AI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kredytowy / zdolność płatnicza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Wymagany human-in-the-loop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Predykcja churnu klientów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Zależy od kontekstu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Konsultacja z prawnikiem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parser (OCR + 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 specjalnego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marketing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Oznaczenie "wygenerowane przez AI"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pracowników przez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Pełna dokumentacja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— TRANSPARENCY REQUIREMENT (Art. 50)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Chatboty i AI agenci: obowiązek TERAZ (od 08.2025)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jest wymagane: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Wyraźna informacja na POCZĄTKU interakcji (nie w regulaminie)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Możliwość przejścia do człowieka na żądanie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udawaj człowieka nawet pod presją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za brak: do 15 mln EUR lub 3% globalnego obrotu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prompt z wymaganym disclosure: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SYSTEM_PROMPT = `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asystentem AI firmy [NAZWA].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WAŻNE: Informuj użytkownika na początku każdej rozmowy: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"Witaj! Jestem asystentem AI, nie człowiekiem.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Mogę pomóc w [zakres]. W każdej chwili możesz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poprosić o kontakt z konsultantem."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Nigdy nie zaprzeczaj że jesteś AI, nawet jeśli użytkownik pyta.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SIECI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Reguła: n8n nigdy nie powinien być dostępny na surowym porcie 5678 w internecie.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[Cloudflare / CDN] — DDoS protection, WAF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[Nginx / Caddy] — Reverse proxy, TLS termination, rate limiting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[Docker network: internal] — izolacja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[n8n container: port 5678] — NIGDY bezpośrednio na zewnątrz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[PostgreSQL container] — tylko wewnętrzna sieć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KONFIGURACJA DLA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 443 ssl http2;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server_name n8n.twojafirma.pl;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ssl_certificate     /etc/letsencrypt/live/.../fullchain.pem;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ssl_certificate_key /etc/letsencrypt/live/.../privkey.pem;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ssl_protocols TLSv1.3;  # Tylko TLS 1.3!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Rate limiting — max 10 req/s per IP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limit_req zone=n8n_limit burst=20 nodelay;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Security headers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add_header X-Frame-Options "DENY";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add_header X-Content-Type-Options "nosniff";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add_header Strict-Transport-Security "max-age=31536000";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/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proxy_pass http://localhost:5678;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Host $host;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X-Real-IP $remote_addr;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X-Forwarded-For $proxy_add_x_forwarded_for;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Rate limiting zone (w sekcji http {})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limit_req_zone $binary_remote_addr zone=n8n_limit:10m rate=10r/s;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SECURITY —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Publiczny webhook bez zabezpieczenia: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Twój webhook URL (publiczny):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https://n8n.firma.pl/webhook/abc123-xyz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Każdy kto zna URL może wywołać: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https://n8n.firma.pl/webhook/abc123-xyz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'{"action": "delete_all_leads"}'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się uruchomi!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Możliwe skutki: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Spam do CRM (fałszywe leady)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Uruchomienie kosztownych AI calls (kradną Twoje API credits)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Wstrzyknięcie złośliwych danych do systemu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SECURITY — HMAC SIGNATURE VERIFICATION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 HMAC (diagram):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Klucz: Atakujący nie zna secret_key → nie może sfałszować podpisu.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NADAWCA (np. GitHub, Stripe, Twój system):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Weź body requestu (raw bytes)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Oblicz: HMAC-SHA256(secret_key, body) = "abc123xyz"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Dodaj nagłówek: X-Signature: sha256=abc123xyz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Wyślij request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ODBIORCA (n8n webhook):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Odbierz request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Weź ten sam secret_key (znasz go tylko Ty i nadawca)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Oblicz: HMAC-SHA256(secret_key, received_body) = "abc123xyz"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Porównaj: oczekiwany == otrzymany?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✅ TAK → request jest autentyczny → przetworz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❌ NIE → ktoś sfałszował request → odrzuć z 401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VERIFICATION — KOD W N8N CODE NODE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Webhook HMAC Verification — Dokodu Standard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crypto = require('crypto');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Pobierz dane z requestu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payload = $input.first().json;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headers = $input.first().json.headers || {};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rawBody = JSON.stringify(payload.body || payload);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Pobierz podpis z nagłówka (np. GitHub style: "sha256=abc123")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receivedSignature = headers['x-hub-signature-256'] ||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headers['x-signature'] || '';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Pobierz sekret z env variable (NIE hardcode!)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secret = process.env.WEBHOOK_SECRET;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(!secret) throw new Error('WEBHOOK_SECRET not configured');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Oblicz oczekiwany podpis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expectedSignature = 'sha256=' + crypto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.createHmac('sha256', secret)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.update(rawBody)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.digest('hex');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Porównaj (timing-safe comparison!)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isValid = crypto.timingSafeEqual(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Buffer.from(receivedSignature),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Buffer.from(expectedSignature)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(!isValid)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Log próbę i odrzuć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console.log(JSON.stringify({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level: 'WARN',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event: 'webhook.signature.invalid',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'Odrzucony request — nieprawidłowy podpis HMAC',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timestamp: new Date().toISOString()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new Error('Invalid signature — request rejected');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Podpis prawidłowy — kontynuuj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[{ json: { verified: true, ...payload } }];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WHITELISTING — DODATKOWA WARSTWA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stosować IP whitelisting: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od zewnętrznego systemu z fałym IP (Stripe: znane zakresy IP)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Wewnętrzne webhook między serwerami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webhooks (nigdy nie powinny być publiczne)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/webhook/admin/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 192.168.1.0/24;     # Twoja sieć wewnętrzna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 185.143.172.0/24;   # Znane IP partnera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deny all;                  # Reszta blokowana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proxy_pass http://localhost:5678;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LOGOWAĆ — DYLEMAT RODO VS BEZPIECZEŃSTWO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logować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NIE logować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Timestamp, event type, workflow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użytkownika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(sukces/błąd)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Treść wiadomości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Pseudonim ID (hash)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Hasła, tokeny, API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 trwania operacji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 biometryczne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(uwaga: to PII!)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Pełne body requestu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 LOGGING STANDARD — FORMAT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Centralizacja logów: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Self-hosted: Grafana Loki (bezpłatny, kompatybilny z Prometheus)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Papertrail, Logtail (prostsze, płatne)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Google Sheets (dla małych projektów)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Każdy log w tym formacie — kopiuj bez modyfikacji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"level": "INFO",                          // INFO | WARN | ERROR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"2026-03-27T10:30:00.123Z", // ISO 8601, UTC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"workflow_name": "CLIENT_Usecase_v1",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"execution_id": $execution.id,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"event": "lead.captured",                // encja.akcja.status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"Nowy lead z formularza web", // czytelny opis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"landing_page_webinar",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"lead_id": "lead_abc123",              // pseudonim, nie email!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"score": 85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"duration_ms": 245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TRACKING — DLACZEGO I JAK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client-side tracking (GA4, Facebook Pixel):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Blokowany przez ad-blockery (30-60% użytkowników w B2B!)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zgody cookies (RODO — baner cookies)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trafiają bezpośrednio do Google / Meta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tracking: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Korzyści: Pełne dane, mniejsza zależność od cookies, lepsza jakość ML w GA4.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Użytkownik klika "Kup" na stronie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Twój serwer: rejestruje zdarzenie (purchase)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 webhook: odbiera event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Przetwarzasz, anonimi zujesz IP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Wysyłasz do GA4 Measurement Protocol (server → Google)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Wynik: 100% event capture, RODO-compliant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 — TARCZA PII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Wysyłasz do OpenAI dane klientów → dane trafiają poza EU (bez DPA = naruszenie RODO)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 — Presidio w architekturze: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Instalacja: Docker container, REST API, integracja przez HTTP Request w n8n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[n8n: surowe dane klienta]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[Presidio Analyzer — identyfikuje PII]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Email: jan@firma.pl → &lt;EMAIL&gt;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PESEL: 90010112345 → &lt;PESEL&gt;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Imię: "Jan Kowalski" → &lt;PERSON&gt;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NIP: 1234567890 → &lt;NIP&gt;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[Presidio Anonymizer — zamienia na tokeny]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[OpenAI API: dane bez PII]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[n8n: wynik + de-anonymizacja (jeśli potrzebna)]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— TWOJA TARCZA BEZPIECZEŃSTWA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warstw = kompletna ochrona: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WARSTWA 1: Credential Vault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N8N_ENCRYPTION_KEY + Least Privilege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WARSTWA 2: RODO Compliance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 Flow Audit + Pseudonimizacja + RTBF Workflow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WARSTWA 3: AI Act Compliance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Klasyfikacja ryzyka + Transparency disclosure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WARSTWA 4: Bezpieczeństwo sieci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Nginx + HMAC webhooks + IP whitelist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WARSTWA 5: Logowanie bez PII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Dokodu Logging Standard + Loki/ELK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WARSTWA 6: PII Redaction przed AI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Microsoft Presidio w architekturze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 — CO ROBISZ PO TYM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(30 minut):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Sprawdź swój N8N_ENCRYPTION_KEY — czy jest silny?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Narysuj Data Flow Diagram jednego swojego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Sprawdź czy n8n jest za reverse proxy (nie na porcie 5678)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tydzień: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Przeprowadź RODO Audit swojego największego workflow (Ćwiczenie 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Dodaj HMAC do przynajmniej jednego webhooka produkcyjnego (Ćwiczenie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miesiąc: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Zidentyfikuj czy masz jakiekolwiek HIGH RISK automatyzacje (AI Act)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Wdróż Presidio jeśli wysyłasz dane klientów do zewnętrznych LLM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nie do zignorowania: AI Act pełne stosowanie — 2 sierpnia 2026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BONUS Bezpieczenstwo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Modul_BONUS_Bezpieczenstwo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
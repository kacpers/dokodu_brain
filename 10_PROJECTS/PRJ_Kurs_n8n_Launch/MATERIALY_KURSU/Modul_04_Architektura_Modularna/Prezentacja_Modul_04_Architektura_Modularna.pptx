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Zaczynamy od pytania do widza — 'Czy zdarzyło ci się otworzyć workflow, który sam zbudowałeś miesiąc temu i nie rozumieć, co on robi?' Poczekaj 2 sekundy. Prawie każdy tak ma. To właśnie rozwiązujemy dziś.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finalny efekt — screenshot lub krótkie demo gotowego routera. 'Na koniec tego modułu zbudujesz dokładnie to. Zaczynamy.'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przez agendę szybko, 15 sekund. Ludzie lubią wiedzieć gdzie są w materiale.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prawdziwy screenshot z n8n — monolityczny workflow 25+ nodów z połączeniami przechodzącymi przez ekran. 'Znacie to. Ja też tak budowałem. To normalne — dopóki nie wiesz, że jest lepszy sposób.'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Daj chwilę na porównanie obu slajdów. 'Przed i po. Obie architektury robią to samo. Ale tylko jedna jest utrzymywalna.'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 każdego problemu — 1-2 zdania przykładu z życia agencji. 'Miałem klienta, który miał 15 wariantów tego samego emaila w różnych workflow...'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nie jest dogmat. Architektura to narzędzie, nie religia. Stosuj tam, gdzie ma sens.'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'Dyrygent nie gra na skrzypcach — on koordynuje. Master workflow nie wysyła emaili — on wywołuje subworkflow, który to robi. To kluczowa różnica.'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Narysuj to też na tablicy lub w draw.io. Wizualizacja jest kluczowa dla zrozumienia przepływu danych.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Przejdź do n8n i pokaż na żywo jak wygląda node w UI. 'Zamiast slajdu — zobaczmy to w akcji.'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'interfejs' twojego subworkflow. Jak signature funkcji w programowaniu. Kto wywołuje, wie czego potrzebuje dostarczyć.'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'Master bierze ten JSON i używa go do wysyłki potwierdzenia użytkownikowi. Im lepszy return contract, tym prostszy master.'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'Zawsze ustaw Default. Nigdy nie zakładaj, że AI/logika nie może zwrócić nieoczekiwanej wartości. Default ratuje życie o 3 w nocy.'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'Variables to centralne miejsce konfiguracji. Jak plik .env w programowaniu. Zmieniasz w jednym miejscu, działa wszędzie.'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'Kiedy masz 50 workflow i szukasz 'tego co obsługuje faktury', naming convention ratuje ci 10 minut za każdym razem.'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'Pokaż przed i po w n8n UI. Różnica w czytelności jest natychmiastowa. To 2 sekundy pracy, które oszczędzają minuty debugowania.'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'Foldery w n8n są pod Settings → Folders. Jeśli tego nie masz w swojej wersji — używaj prefixów w nazwach. Efekt ten sam.'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'Minimum viable versioning: eksport JSON do folderu Dropbox/Drive co tydzień. Zaawansowani: Git. Absolutne minimum: tagi 'stable'.'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'Wydrukuj tę tabelę i przyklej przy monitorze. Naprawdę. Przez pierwsze miesiące będziesz do niej wracał.'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'Kontrakt to umowa między master a subworkflow. Jak swagger API. Zapisuj go w sticky note bezpośrednio w workflow albo w osobnym dokumencie.'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'Mamy 6 workflow: 1 master + 5 subworkflowów. Każdy można budować niezależnie. Zaczynamy od subworkflowów, potem łączymy w master.'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'GPT-4o-mini jest wystarczający do prostej klasyfikacji. Tani (~$0.001 za klasyfikację), szybki. Nie przesadzaj z modelem do prostych zadań.'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'Każdy subworkflow buduj i testuj oddzielnie. Dopiero gdy działa samodzielnie, wpisujesz go do mastera.'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'Piękno modularności: IT używa Jira, HR używa Sheets, Sales używa CRM. Master nie wie i nie musi wiedzieć. Każdy subworkflow działa na własnych narzędziach.'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''Other' to też ścieżka sukcesu. Użytkownik dostaje potwierdzenie, admin dostaje alert. Nic nie wypada w próżnię.'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'Zawsze wysyłaj potwierdzenie. To jedna z tych rzeczy, które odróżniają profesjonalną automatyzację od skryptu. Użytkownik wie, że jego zgłoszenie nie przepadło.'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'Modularność to nie tylko czytelność — to możliwość testowania. Testuj subworkflow w izolacji jak unit testy. To właśnie jest przewaga architektury.'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'Wydrukuj tę checklistę. Naprawdę. Pierwszym razem gdy ją pominiesz i deployment pójdzie źle o 23:00, zapamiętasz.'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'Widziałem każdy z tych anty-wzorców w produkcji. Łącznie z własnym.'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ćwiczenie celowo używa workflow który już znacie. Refaktoryzacja istniejącego kodu jest trudniejsza niż budowanie od zera. I bardziej realistyczna.'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'Twilio ma darmowy trial — nie musisz płacić żeby to przetestować. To realistyczna funkcja którą wiele firm naprawdę potrzebuje.'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04 ARCHITEKTURA MODULARNA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4: Prezentacja — 32 slajdy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 modułu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Modularna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z Chaosem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 4 z 8 — n8n + AI dla Agencji i Firm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 dziś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Request Router — Firmowy Router Zgłoszeń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email lub formularz z typem zgłoszenia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klasyfikuje: IT / HR / Finance / Sales / Other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kategoria = osobny subworkflow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zwraca potwierdzenie z numerem ticketu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budowy: ~60 minut (po tym module)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modułu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spaghetti workflow (10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Filozofia architektury modularnej (15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 node — demo (20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node i routing (15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Konwencje i organizacja (30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tygodnia — budujemy razem (55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i zadanie domowe (25 min)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Spaghetti Workflow (PRZED)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Objawy spaghetti: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Niemożliwość zrozumienia bez autora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= Russian roulette (gdzie jest błąd?)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tej samej logiki w 3 miejscach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jednej rzeczy psuje dwie inne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[Webhook] → [HTTP] → [IF] → [Set] → [HTTP] → [Email] → [IF] → [Sheets]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↓                        ↓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[Set2]               [Slack]→[IF]→[HTTP]    [Email2]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↓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[Code]                   [Set3]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Spaghetti Workflow (PO)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Efekty modularyzacji: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workflow ma jedną odpowiedzialność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Debugujesz subworkflow w izolacji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Zmieniasz logikę HR bez dotykania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współpracownik rozumie w 5 minut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[Webhook] → [AI Classifier] → [Switch]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├─ IT Support  → [Execute: WF_IT]   → [Merge]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├─ HR          → [Execute: WF_HR]   → [Merge]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├─ Finance     → [Execute: WF_FIN]  → [Merge]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├─ Sales       → [Execute: WF_SAL]  → [Merge]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└─ Other       → [Execute: WF_OTH]  → [Merge]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          [Send Confirmation]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Cztery prawdziwe problemy monolitu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Niemożliwość ponownego użycia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Masz logikę "wyślij email potwierdzający" w 5 workflow. Zmiana formatu = 5 edycji.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Piekło debugowania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Błąd w Node 23 z 40. Który Node 23? Który output?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Brak izolacji zmian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Poprawiasz routing sprzedażowy, przez przypadek psujesz routing HR.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Niemożliwość testowania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Nie możesz uruchomić tylko "części" workflow. Musisz odpalić całość z prawdziwymi danymi.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Heurystyka — kiedy modularyzować?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Modularyzuj jeśli: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ma więcej niż 15 nodów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logika pojawia się w 2+ miejscach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Zmiana jednej ścieżki nie powinna wpływać na inne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Chcesz testować poszczególne kroki oddzielnie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Pracujesz w zespole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Zostaw inline jeśli: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sekwencja &lt; 10 nodów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Jednorazowy skrypt / eksperyment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powtarzalnej logiki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projekt, bardzo krótki lifecycle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— Orkiestra i Dyrygent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Workflow = Dyrygent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 partyturę (wie co i kiedy)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Daje sygnał każdemu muzykowi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Zbiera wyniki w spójną całość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nie gra na żadnym instrumencie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= Muzyk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Specjalizuje się w jednym instrumencie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Wykonuje zadanie na sygnał dyrygenta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Zgłasza że skończył (return)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wie, co robi reszta orkiestry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Master-Subworkflow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komunikacji: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→ Sub: JSON z danymi zgłoszenia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→ Master: JSON z wynikiem (ticket_id, status, message)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Trigger → Parse → Classify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↓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[Switch]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↙    ↓    ↓    ↘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[Exec] [Exec] [Exec] [Exec]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↓      ↓      ↓      ↓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[Merge Results]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↓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[Send Confirmation]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↕ dane in/out 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SUBWORKFLOWS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┌──────────┐ ┌──────────┐ ┌──────────┐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WF: IT   │ │ WF: HR   │ │ WF: FIN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Support  │ │          │ │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└──────────┘ └──────────┘ └──────────┘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 Node — Anatomy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Przykład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lub nazwa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WF_IT_Support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/ async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(czekamy na wynik)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do przekazania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{{ $json }}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finish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(chcemy return)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Długie operacje (&gt;30s)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(nie czekamy na wynik)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Równoległe wykonanie wielu subworkflowów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Trigger — "When Called"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do użycia: When Called by Another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definiujemy: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definiować pola?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dla przyszłego siebie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w n8n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Jasny kontrakt = mniej błędów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"inputFields": 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"request_id", "type": "string", "required": true},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"requester_email", "type": "string", "required": true},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"description", "type": "string", "required": true},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"priority", "type": "string", "required": false}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Node — Zwracanie Wyniku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Data node (ostatni w subworkflow):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 dobrego return: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success: true/false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Zawsze message czytelny dla end-usera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 jeśli system to tworzy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zwracaj więcej niż potrzeba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"ticket_id": "IT-2847",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"message": "Zgłoszenie IT przekazane do zespołu. Odpowiedź w ciągu 4h.",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"assigned_to": "it-support@firma.pl",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"sla_hours": 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Node — Intelligent Routing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Liczba ścieżek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(true/false)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Czytelność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Wysoka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Spada przy zagnieżdżeniu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Klasyfikacja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Prosty warunek binarny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79192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 do sprawdzenia: {{ $json.category }}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IT_Support → output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HR → output 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output 5 (Other)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Variables — Shared Configuration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bez Variables: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Rozwiązanie: n8n Variables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kandydatury na Variables: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URL zewnętrznych systemów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Adresy email zespołów (it@, hr@, fin@)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w godzinach per kategoria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Flagi feature (np. SEND_SMS: true)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serwisu hardcoded w 12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Zmiana URL = 12 edycji ręcznie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—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nazwy workflow: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zawsze na początku: PROD / DEV /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OBSZAR: krótki, bez spacji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FUNKCJA: czasownik + rzeczownik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Wersja: tylko major zmiany logiki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[ENV]_[OBSZAR]_[FUNKCJA]_v[X]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 — Nody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Każdy node musi mieć czytelną nazwę. Domyślna jest złem.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Złe nazwy: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Dobre nazwy: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Request, HTTP Request1, HTTP Request2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Set, Set1, Set2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IF, IF1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Rekomendowana struktura: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00_MASTER_WORKFLOWS/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PROD_Master_Request_Router_v2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PROD_Master_Lead_Processor_v1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01_IT_Support/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PROD_IT_Request_Handler_v1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PROD_IT_Escalation_Alert_v1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02_HR/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PROD_HR_Request_Handler_v1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PROD_HR_Onboarding_Welcome_v2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03_Finance/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PROD_FIN_Request_Handler_v1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04_Sales/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PROD_SAL_Request_Handler_v1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PROD_SAL_Lead_Notify_v3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99_ARCHIVE/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[stare workflow - dezaktywowane]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DEV/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[workflow w budowie]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Wersjonowanie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1: Tagi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tag v1, v2, stable, deprecated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filtrowanie w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2: Historia zmian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przechowuje historię wersji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Wróć do poprzedniej wersji: Workflow → ... → History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 do: pamiętaj o limicie historii w self-hosted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3: Export JSON (backup)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4: Git (advanced)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JSON → commit do repo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automatyczny deploy workflow na staging/prod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export:workflow --all --output=/backups/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lub przez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/api/v1/workflows/{id}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decyzyjna — Subworkflow vs Inline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Kryterium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Logika reużywalna w 2+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Logika używana tylko raz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Chcesz testować w izolacji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nodów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Różni właściciele (np. IT vs HR)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Prosta sekwencja bez rozgałęzień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Zmiana w jednym miejscu = zmiana wszędzie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 / eksperyment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A66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Contract — Standard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subworkflow ma udokumentowany kontrakt: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WF_IT_Support — Kontrakt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INPUT (wymagane)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request_id: string — unikalny ID zgłoszenia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requester_email: string — email zgłaszającego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description: string — treść zgłoszenia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priority: string — "low" | "medium" | "high" | "urgent"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OUTPUT (zawsze zwracane)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success: boolean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ticket_id: string — np. "IT-2847"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message: string — komunikat dla użytkownika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assigned_to: string — email osoby obsługującej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sla_hours: number — czas odpowiedzi w godzinach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BŁĘDY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success: false, error: "JIRA_UNAVAILABLE"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success: false, error: "INVALID_EMAIL"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tygodnia — Architektura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32688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 REQUEST ROUTER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════════════════════════════════════════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 / Form Webhook]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[Parse &amp; Normalize Input]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[AI: Classify Category]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(GPT-4o-mini, structured output)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[Switch: Route by Category]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IT_Support  → [Execute: WF_IT_Support]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Jira Ticket + Email 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HR          → [Execute: WF_HR]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Google Sheets + Email HR Manager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Finance     → [Execute: WF_Finance]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Google Sheets + Email CFO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Sales       → [Execute: WF_Sales]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CRM Lead + Slack Handlowiec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Other       → [Execute: WF_Other]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Human Review Queue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[Merge Results from all branches]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[Send Confirmation Email to Requester]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(ticket_id, category, SLA, next steps)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 — Konfiguracja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OpenAI (GPT-4o-mini) lub Anthropic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systemowy: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Jesteś klasyfikatorem zgłoszeń firmowych.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Przeanalizuj zgłoszenie i przypisz kategorię.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IT_Support: problemy techniczne, sprzęt, software, dostępy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HR: urlopy, umowy, onboarding, benefity, rekrutacja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Finance: faktury, rozliczenia, budżety, zwroty kosztów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Sales: zapytania sprzedażowe, oferty, leady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Other: wszystko poza powyższymi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Odpowiedz TYLKO nazwą kategorii. Bez wyjaśnień.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Subworkflow — Detale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request_id, requester_email, description, priority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Kroki: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Prepare Jira Payload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Mapowanie priority → Jira priority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Budowanie summary z description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Create Jira Issue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{{ $vars.JIRA_BASE_URL }}/rest/api/2/issue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API Token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to IT Team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{{ $vars.IT_TEAM_EMAIL }}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[{{ $json.priority }}] Nowe zgłoszenie #{{ $json.ticket_id }}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Confirmation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ticket_id, message, sla_hours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realizacji: &lt; 3 sekundy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Subworkflow — Detale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Wejście: request_id, requester_email, description, priority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Kroki: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Row to HR Requests Sheet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Sheets: zakładka "Zgłoszenia HR"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Kolumny: ID, Data, Email, Opis, Status, Priorytet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to HR Manager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{{ $vars.HR_MANAGER_EMAIL }}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Treść: nowe zgłoszenie, link do arkusza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Confirmation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ticket_id (row ID), message, sla_hours: 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vs IT: Brak integracji z ticketingiem — HR używa Sheets.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normalne. Każdy subworkflow dostosowuje się do narzędzi danego działu.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— Human Review Queue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Filozofia: Nie każde zgłoszenie da się zautomatyzować.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"Other":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Review Queue (Google Sheets)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Alert to Admin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Slack do osoby dyżurnej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"Nowe zgłoszenie wymagające ręcznej klasyfikacji"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Confirmation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true (odebraliśmy!)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"Twoje zgłoszenie trafi do naszego zespołu w ciągu 24h"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sla_hours: 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zasada: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Nawet "Other" daje potwierdzenie użytkownikowi.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znikaj po odbiorze zgłoszenia.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 Confirmation Email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Execute Workflow dla każdej gałęzi: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Potwierdzenie dla użytkownika: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[Merge] — tryb: Merge by Key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Klucz: request_id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Zbiera wyniki ze wszystkich gałęzi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Modularnej Architektury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testowania: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1: Testuj subworkflows w izolacji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Stwórz test workflow z hardcoded JSON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Wywołaj każdy subworkflow bezpośrednio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Weryfikuj output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2: Testuj Switch node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testowych inputów (po jednym na kategorię)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Weryfikuj, że każda trafia na właściwą ścieżkę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3: Test end-to-end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Wyślij email testowy z każdą kategorią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Sprawdź: ticket w Jira, row w Sheets, email wysłany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Sprawdź: email potwierdzający z właściwym ticket_id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Testy regresji: Po każdej zmianie — test #1 i #3 zawsze.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Checklista przed deployem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 aktywacją workflow na produkcji: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Wszystkie nody mają czytelne nazwy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Workflow ma nazwę według konwencji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Jest folder i tagi (środowisko + wersja)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Każda ścieżka IF/Switch ma Default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Error handling: co się stanie gdy API nie odpowie?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Zmienne środowiskowe w n8n Variables, nie hardcoded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Przetestowałem każdą ścieżkę ręcznie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Return contract jest udokumentowany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Wykonałem eksport JSON (backup)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Ktoś inny rozumie co robi ten workflow (opcjonalne, ale zalecane)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Anty-wzorce do unikania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"Master który robi wszystko"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delegować do subworkflowów — robi całą logikę sam.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 nie jest master, to monolith przemianowany.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"Zagnieżdżone wywołania"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→ Sub1 → Sub2 → Sub3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Debugowanie staje się koszmarnym trackowaniem.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Maksymalnie 2 poziomy głębokości.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"Brak return contract"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nie zwraca nic / zwraca wszystko.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Master nie wie co dostał.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Zawsze definiuj kontrakt.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"Tight coupling przez ID"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hardcoduje ID subworkflow zamiast używać nazw.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Zmiana workflow = naprawa mastera.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Używaj n8n Variables do przechowywania ID.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— Refaktoryzacja Lead Capture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(20 min):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Weź workflow Lead Capture z Tygodnia 1 i podziel go na: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PROD_Lead_Capture_Master (orchestrator)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PROD_Lead_Enrich_Data (subworkflow: weryfikacja + enrichment)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PROD_Lead_Save_CRM (subworkflow: zapis do CRM)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PROD_Lead_Notify_Sales (subworkflow: powiadomienie zespołu)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kontrolne: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subworkflow uruchamia się samodzielnie z testowym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wywołuje je sekwencyjnie i zbiera wyniki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Kontrakt wejście/wyjście udokumentowany w sticky note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 — Kategoria "Urgent"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68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Rozbuduj Request Router o kategorię "Urgent":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email z subject zawierającym "[URGENT]" lub priorytet "urgent"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WF_Urgent: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 do Sheets (wspólna kolejka)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do CFO + CEO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przez Twilio do managera dyżurnego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Zwróć ticket_id z prefixem "URG-"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941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Wskazówki: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78224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 n8n: szukaj node "Twilio" w panel nodów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Twilio Account SID + Auth Token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endpoint SMS z $vars.DUTY_MANAGER_PHONE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dodaj case "Urgent" przed "Other"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Termin: Przed Modułem 5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— 5 Zasad Architektury Modularnej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Jeden workflow = jedna odpowiedzialność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orchestruje. Subworkflow wykonuje.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Definiuj kontrakty, nie zakładaj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każdego subworkflow musi być udokumentowany.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Variables zamiast hardcoding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w jednym miejscu. Używana wszędzie.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Testuj w izolacji, deployuj razem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Subworkflow testowane solo. System testowany end-to-end.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Naming convention od dnia zero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Konwencja narzucona od początku. Chaos narasta bez niej.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04 Architektura Modularna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Modul_04_Architektura_Modularna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
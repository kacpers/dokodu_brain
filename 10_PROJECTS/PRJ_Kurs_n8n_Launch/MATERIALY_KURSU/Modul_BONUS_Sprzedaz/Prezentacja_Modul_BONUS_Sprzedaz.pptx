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Powitanie. 'Gratulacje — jesteś w miejscu, gdzie większość kursów n8n się kończy. My dopiero zaczynamy to, co decyduje czy zarobisz pieniądze.'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'Znam kogoś (siebie z 2019 roku) kto przez 3 miesiące budował system za 5 000 PLN który był wart 40 000. Nie ze złośliwości klienta — bo nie umiałem tego wycenić.'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Krótkie, konkretne. Pokaż folder z szablonami — zbuduj anticipation.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'T&amp;M brzmi bezpiecznie dla ciebie — ale klienci tego nie lubią. Fixed price jest wygodny dla klienta — ale niebezpieczny dla ciebie. Value-based jest najtrudniejszy do sprzedania, ale najbardziej opłacalny.'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przykład raportu godzinowego — prostego, w Notion lub arkuszu.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'Kiedyś wziąłem fixed price projekt 'integracji CRM z systemem wysyłkowym'. Okazało się że system wysyłkowy ma API z 2012 roku, bez dokumentacji, z podstawową autoryzacją. +40 godzin ekstra, za które nikt nie zapłacił.'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'Kiedy klient widzi 234 000 PLN rocznie po lewej i 20 000 PLN po prawej — nie ma o czym rozmawiać. Problem polega na tym, że musisz to policzyć razem z klientem na discovery.'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'Najczęstszy błąd: ludzie liczą tylko czas budowy i zapominają o wszystkim wokół. Discovery, dokumentacja, testy, setup środowiska — to często 50% projektu.'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są liczby z prawdziwych projektów, zanonimizowane. Proszę żebyś nie traktował dolnych widełek jako normy — to jest absolutne minimum dla klienta który jest super zorganizowany i ma czas. Większość projektów ląduje bliżej górnej granicy.'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Śmiech jest OK. 'Tak, mówię poważnie. Mój bufor na nowych klientach to 50%. I nadal czasem ledwo wychodzę.'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'Większość konsultantów idzie na discovery żeby zbierać wymagania techniczne. To błąd. Idziesz żeby zrozumieć — po co to tak naprawdę?'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'Wydrukuj to i połóż przed sobą na każdym discovery callu. Pytanie 7 jest najtrudniejsze — większość ludzi je pomija. Nie pomijaj.'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'Pytanie o budżet to nie jest bezczelność. To jest szacunek dla czasu klienta i twojego. Nauczyłem się tego po tym jak spędziłem 6 godzin na discovery dla klienta który miał budżet 3 000 PLN.'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'Każdy z tych flagów to projekt który zakończyłem albo z bólem i bez pełnej zapłaty, albo którego nie wziąłem i byłem z siebie dumny. Każdy.'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'BANT to narzędzie ze sprzedaży enterprise — ale działa idealnie dla projektów automatyzacji. Jeśli klient nie ma budżetu, nie jest decydentem, nie ma realnego bólu albo 'może kiedyś' — to nie jest lead, to jest rozmowa.'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'Klient nie kupuje n8n. Klient kupuje 3 godziny dziennie swojego handlowca z powrotem. Pisz o tym.'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'Moje oferty mają 4 strony. Klient który potrzebuje 20-stronicowej oferty żeby podjąć decyzję — to nie jest gotowy klient.'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'70% moich klientów wybiera Opcję B. Nie dlatego że jest droższa — dlatego że jest logicznie lepsza. Budujesz Opcję A jako bazę, ale tak żeby B była oczywistym wyborem dla kogoś kto myśli długoterminowo.'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'Zawsze rób kalkulator ROI razem z klientem na discovery — nie wstawiaj liczb samemu. Kiedy klient sam policzy ile traci — sam uzasadnia ci cenę projektu.'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'Najlepszy follow-up jaki wysłałem to był newsletter z case study z branży klienta. Napisał do mnie sam następnego dnia. Daj wartość, nie pytaj o decyzję.'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'Miałem projekt gdzie klient po 3 miesiącach powiedział że workflow 'nie spełnia wymagań'. Nie mieliśmy zdefiniowanych kryteriów akceptacji. To był bardzo drogi błąd — i dla mnie, i dla klienta.'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'Kluczowe: możesz budować podobne rozwiązania dla innych klientów. Nie sprzedajesz unikalnej wiedzy — sprzedajesz implementację. Klient dostaje prawo do używania, nie do tego żeby sprzedawać twoje rozwiązanie dalej.'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'90% projektów automatyzacji B2B dotyka danych osobowych. Nie ignoruj tego — podpisanie DPA to 30 minut pracy prawnej, brak DPA to potencjalna odpowiedzialność z AI Act i RODO.'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'Mam klienta który dzwoni o 22:00 bo workflow 'nie działa'. Okazało się że API Shopify miało przerwę. To nie mój błąd — ale bez jasnego SLA byłem traktowany jak winny. Teraz mam to w każdej umowie.'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'Lista checkboxów to nie formalność — to twoja ochrona. Kiedy klient podpisze protokół odbioru potwierdzając że otrzymał wszystkie deliverables, trudniej mu powiedzieć że 'projekt nie jest skończony'.'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'Dobra dokumentacja to 2–3 godziny pracy. Zła dokumentacja to 10 telefonów od klienta w ciągu roku. Matematyka jest prosta.'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'Nagrywaj szkolenia. Zawsze. Klient obejrzy to 5 razy w ciągu roku i uniknie 5 telefonów do ciebie.'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'Ten dokument to twoja tarcza. Klient który podpisał protokół odbioru nie może 6 miesięcy później powiedzieć że projekt nie był skończony.'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'Sprzedaż retainera to nie jest wciskanie klientowi kolejnego kosztu. To jest dawanie im peace of mind. Jeśli nie rozumiesz dlaczego mieliby tego chcieć — nie umiesz jeszcze sprzedawać.'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zdanie działa, bo nie sprzedajesz — informujesz. Klient pyta o różnicę i sam sobie sprzedaje retainera.'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'Tier A to pasywny przychód. Tier B to gdzie większość klientów trafia. Tier C to faktycznie outsourcing automatyzacji na stałe — idealny dla firm które chcą rozwijać automation roadmap.'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'10 klientów na Tier B retainerze przy średnim projekcie 30k = 10 × 900 PLN/mies = 9 000 PLN pasywnie. To pół etatu bez nowych projektów. Tak budujesz firmę.'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'Kiedy to zrozumiałem — przestałem panikować przy braku nowych projektów. Retainery to fundament, projekty to wzrost.'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Spokojnie, bez samodramatyzowania. 'Każdy z tych błędów kosztował mnie realnie — czas, pieniądze lub stres. Opowiadam o tym żebyś nie musiał ich powtarzać na własnym budżecie.'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Entuzjastyczne zamknięcie. 'Daj znać w społeczności jak poszedł twój pierwszy Discovery Call z tą metodologią. Czytam każdy komentarz.'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BONUS SPRZEDAZ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Prezentacja — Moduł BONUS B: Sprzedaż i Delivery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Następnie: Tytuł modułu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dokodu.it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Tytuł modułu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BONUS 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brać za automatyzacje tyle, ile są warte — i dostarczać je bez bólu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który rozwiązujemy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świetni technicznie eksperci n8n zarabiają 8 000 PLN/miesiąc?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umieją wycenić swojej pracy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Biorą każdego klienta (nawet złego)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Oddają projekt bez umowy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mają retainerów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Wynik: projekt goni projekt, zero pasywnego przychodu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zmieni się po tym module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tych 2 godzinach będziesz umiał: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Wycenić projekt automatyzacji w 3 modelach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Przeprowadzić Discovery Call jak doradca, nie technik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Napisać ofertę która sprzedaje (nie lista technologii)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Podpisać umowę która cię chroni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Przekonać klienta do retainera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szablony do pobrania — wszystko gotowe do użycia jutro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modele wyceny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Ryzyko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T&amp;M (czas + materiały)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Niejasny scope, R&amp;D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Klient nie wie ile zapłaci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Jasny scope, powtarzalne projekty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creep zjada marżę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Znasz wartość biznesową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Wymaga dobrego discovery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T&amp;M — kiedy tak, kiedy nie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Materials — dla projektów badawczych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 gdy: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/ MVP automatyzacji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z systemem legacy (nieznana głębokość)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chce płacić za iteracje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gdy: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pyta "a ile to zajmie łącznie?"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ma jasne wymagania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budżetuje z góry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Zabezpieczenie T&amp;M: tygodniowy raport godzin + cap budżetowy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Price — jak się nie naciąć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Price bez protekcji = prezent dla klienta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Musisz zdefiniować z góry: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Dokładne deliverables (lista, nie opis)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Liczba rund poprawek (max 2)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jest "poza scope" (procedura change request)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Środowisko testowe vs produkcyjne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Złota zasada: jeśli nie możesz tego napisać na liście — nie wyceniaj fixed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Pricing — jak rozmawiać o pieniądzach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Value-Based: sprzedajesz wynik, nie godziny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Klient: 5 pracowników × 3h/dzień wprowadzania danych = 75h/tydzień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Koszt: 75h × 60 PLN = 4 500 PLN/tydzień = 234 000 PLN/rok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Twój workflow: 20 000 PLN → ROI w 5 tygodni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Wartość dla klienta = oszczędność czasu × koszt godziny pracownika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+ eliminacja błędów × koszt błędu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+ przyspieszenie procesu × wartość szybszego wyniku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Kalkulator wyceny — Breakdown Tasks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Przykładowe zadania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Typowy czas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&amp; analiza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Mapping procesów, wywiady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Projektowanie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 flow, architektura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2–6h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Konfiguracja środowiska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credentials, VPN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Budowa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Każdy nietrywialny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Integracja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Jedna integracja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2–6h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Obsługa błędów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handling, retry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+25% do budowy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 path + edge cases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+20% do budowy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Dokumentacja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Techniczna + użytkowa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+10% całości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Handover &amp; 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Sesja z klientem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Bufor niespodzianek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Zawsze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Przykładowe wyceny — 3 typy projektów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 projektu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Szacunek godzin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Cena PLN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Prosty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Powiadomienia, sync danych, 1-2 integracje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20–40h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8 000–15 000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Złożony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Multi-step, AI, decyzje, 4+ systemy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80–180h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30 000–80 000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Baza wiedzy, embeddingi, UI, maintenance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50–120h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20 000–50 000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Bufor 30% — dlaczego to za mało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zjada twój bufor: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które nie działają jak w dokumentacji (zawsze)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który "miał coś powiedzieć wcześniej"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Środowisko produkcyjne różni się od testowego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"Czy możecie dodać jeszcze jedno małe..."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Rotacja po stronie klienta (nowy koordynator)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Urlopy, choroby, opóźnienia w dostarczeniu dostępów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Realna zasada: 30% to minimum. Dla nowych klientów — 40–50%.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 — po co to w ogóle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 to NIE jest zbieranie wymagań technicznych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 to: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Zrozumienie bólu biznesowego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Kwalifikacja: czy to dobry klient dla ciebie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Zbudowanie zaufania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Zebranie danych do value-based pricing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 dobrego discovery: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Wiesz co zbudować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Wiesz ile to warte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Wiesz czy chcesz z tym klientem pracować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pytań na Discovery Call (gotowe do wydruku)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pytań które MUSISZ zadać: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 konkretny problem chcecie rozwiązać? (nie: co chcecie zautomatyzować)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się dzieje jeśli ten problem nie zostanie rozwiązany? (skala bólu)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ten proces wygląda dziś, krok po kroku? (mapping procesów)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 osób jest w to zaangażowanych i ile czasu poświęcają? (kalkulacja ROI)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próbowaliście już to rozwiązać? Co nie zadziałało? (oczekiwania i historia)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 podjął decyzję o szukaniu rozwiązania i kto zatwierdza budżet? (authority)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 macie budżet na ten projekt? (budget — zapytaj wprost)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kiedy chcecie to uruchomić i dlaczego właśnie ta data? (timeline + priorytet)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wygląda wasza infrastruktura techniczna? Jakie systemy używacie? (complexity)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jest dla was definicją sukcesu tego projektu? (kryteria akceptacji)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 #7 — jak rozmawiać o budżecie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"Jaki macie budżet?" — dlaczego to kluczowe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klient nie poda budżetu: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"Żeby zaproponować właściwe rozwiązanie, muszę wiedzieć z jakimi możliwościami pracuję. Czy mówimy o budżecie poniżej 10 000, między 10 a 50 tys., czy powyżej?"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budżet jest za mały: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"To co opisujesz wymaga X zł. Możemy omówić co wchodzi w mniejszy zakres, ale nie chcę obiecywać czegoś czego nie dostarczę."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nie warto ukrywać cen: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Oszczędza czas obu stron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Buduje wiarygodność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Eliminuje złych klientów wcześnie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— kiedy powiedzieć NIE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sygnałów że ten projekt/klient będzie koszmarem: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"Zrób to szybko, potem rozliczymy" — brak formalności to brak płatności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Brak osoby decyzyjnej w rozmowie — sprzedajesz komuś kto i tak nie zatwierdzi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"To proste, to zajmie wam godzinę" — klient nie rozumie zakresu pracy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Poprzedni dostawca "zawiódł ich" — możliwe że problem leży gdzie indziej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Nie mają zdefiniowanego procesu — automatyzujesz chaos (to nie działa)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Negocjują cenę zanim zobaczyli ofertę — będą negocjować na każdym etapie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"Chcemy wszystko zrobić sami, tylko powiedzcie jak" — nie potrzebują wykonawcy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 dla Automatyzacji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Kryterium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Pytanie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Czy mają środki na projekt?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Zadeklarowany lub widoczny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Czy rozmawiasz z decydentem?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Dostęp do osoby zatwierdzającej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Czy ból jest realny i bolesny?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kosztuje ich czas/pieniądze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Czy jest presja czasowa?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Chcą wdrożyć w ciągu 3–6 miesięcy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oferty która sprzedaje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Błąd który popełniają wszyscy: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Zła struktura: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"Zbudujemy workflow n8n z integracją Airtable przez REST API, wdrożymy na Docker z obsługą webhooków..."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Dobra struktura: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"Wyeliminujemy 3 godziny dziennie pracy manualnej w dziale handlowym przez automatyczne przekazywanie leadów z formularza do CRM i powiadamianie handlowca SMS-em w ciągu 30 sekund."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Zasada: najpierw wynik, potem jak to osiągniemy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oferty — 6 sekcji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handlowa krok po kroku: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Rozumiemy twój problem (pokaż że słuchałeś na discovery)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Nasze rozwiązanie (wynik, nie technologia)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dostarczymy (deliverables: lista, daty, formaty)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to się opłaca (ROI kalkulator)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Inwestycja (Opcja A i B z cenami)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Następny krok (konkretne CTA: "Odezwij się do piątku")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4–6 stron. Więcej = klient nie przeczyta.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Opcja A i B — psychologia wyboru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Opcja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Opcja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Podstawowy zakres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Rozszerzony zakres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Wsparcie 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lub 30 dni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miesięcy retainer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Dokumentacja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Standardowa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Rozszerzona + szkolenie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Np. 20 000 PLN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Np. 28 000 PLN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063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porównuje A z B, nie twoją ofertę z konkurencją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jest zazwyczaj lepszą inwestycją — klient to widzi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nie ma budżetu na B, ma "wyjście" przez A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— jak to liczyć z klientem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Kalkulator ROI dla projektu automatyzacji: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25 000 PLN projekt, 5h/tydz oszczędności, 80 PLN/h pracownik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Oszczędności roczne: 5 × 80 × 52 = 20 800 PLN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Payback: ~14,5 miesiąca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OSZCZĘDNOŚCI ROCZNE =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(Czas zaoszczędzony tygodniowo w godzinach)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× (Stawka godzinowa pracownika)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× 52 tygodnie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DODATKOWE KORZYŚCI =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Eliminacja błędów × koszt błędu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Szybszy czas reakcji × wartość szybszości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Skalowalność bez nowych etatów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 = (Oszczędności roczne / Koszt projektu) × 100%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Payback period = Koszt projektu / Oszczędności miesięczne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— strategia bez natrętności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Dzień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Dzień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Wysłanie oferty + potwierdzenie telefoniczne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Dzień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"Czy dotarła oferta? Mam pytanie wyjaśniające..."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Dzień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Wartościowy follow-up: artykuł, case study branżowy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Dzień 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Ostatni kontakt: "Decyzja jeszcze otwarta czy zamknięta?"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Umowa IT — co MUSI być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klauzul bez których nie podpisuj umowy: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Definicja zakresu (scope) — lista deliverables, nie opis ogólny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 change request — co się dzieje gdy klient chce czegoś spoza scope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Kryteria akceptacji — konkretne, mierzalne (nie "działa poprawnie")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Harmonogram płatności — zaliczka min. 30%, milestone, płatność końcowa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Własność intelektualna — kto jest właścicielem workflow po oddaniu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— kto jest właścicielem workflow?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Domyślnie należy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n8n (eksport JSON)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Klient (zamówił i zapłacił)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Twoje reużywalne komponenty/snippety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 (chyba że inaczej uzgodnione)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Integracje z API zewnętrznymi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provider (licencja)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 AI (OpenAI, Anthropic)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(warunki użytkowania)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nodes które napisałeś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Negocjowane w umowie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 i DPA w projektach automatyzacji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Kiedy musisz podpisać Data Processing Agreement: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 — gdy twój workflow: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Przetwarza dane osobowe klientów klienta (np. CRM → email)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Pobiera dane z systemów HR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Integruje formularze z danymi osób fizycznych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Wysyła komunikację personalną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DPA musi zawierać: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przetwarzania danych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 danych i podmiotów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przetwarzania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Środki bezpieczeństwa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Sub-procesorzy (np. OpenAI, n8n cloud)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po wdrożeniu — realny vs marketingowy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Bezpieczne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Ryzykowne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Czas reakcji na zgłoszenie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24–48h w dni robocze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 (tylko jeśli masz monitoring)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Dostępność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 (zależy od infrastruktury klienta)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Czas naprawy krytycznego błędu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24–72h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"ASAP" (bez definicji)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SLA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Błędy w kodzie który napisałeś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Problemy z zewnętrznymi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— kompletna lista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dostarczasz klientowi po projekcie: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Obowiązkowe: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Workflow n8n (eksport JSON + import guide)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Dokumentacja techniczna (architektura, flow diagram, node-by-node)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Dokumentacja użytkowa (co robi, jak uruchomić, jak zatrzymać)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Lista credentials i jak je rotować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Protokół testów (co testowałeś, wyniki)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Protokół odbioru (podpisany przez obie strony)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Opcjonalne (w wyższych pakietach):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Szkolenie użytkownika (nagranie lub na żywo)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Runbook operacyjny (co robić gdy coś nie działa)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Monitoring setup (alerty, dashboardy)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Dokumentacja n8n — jak pisać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dokumentu technicznego: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Overview (1 akapit)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Co robi workflow, trigger, output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Prerequisites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Wymagane konta, klucze API, uprawnienia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Flow Diagram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Wizualny diagram (screenshot lub mermaid)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Node-by-Node opis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Dla każdego kluczowego node: co robi, konfiguracja, uwagi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Error Handling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Co się dzieje gdy coś pójdzie nie tak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Troubleshooting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Top 5 problemów i jak je rozwiązać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Maintenance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Co sprawdzać regularnie, jak rotować kredencjale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klienta — co pokazać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Sesja szkoleniowa: 2–4 godziny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pokazać: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jest workflow w n8n (gdzie szukać, jak uruchomić manualnie)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sprawdzić logi i ostatnie executions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robić gdy workflow "nie działa" (pierwsze kroki diagnostyki)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mnie skontaktować (i kiedy NIE kontaktować — bo to nie mój problem)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jest dokumentacja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Czego NIE pokazywać na szkoleniu: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modyfikować workflow (chyba że retainer tech — wtedy szkolenie developerskie)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Wewnętrzna architektura (niepotrzebna złożoność)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Protokół odbioru — format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Protokół odbioru kończy projekt (i otwiera płatność końcową)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PROTOKÓŁ ODBIORU PROJEKTU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Projekt: [nazwa]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Klient: [firma]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Wykonawca: [twoja firma]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[YYYY-MM-DD]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ZAKRES PROJEKTU: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Workflow n8n: [nazwa]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Integracje: [lista]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Dokumentacja: dostarczona [data]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Szkolenie: przeprowadzone [data]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TESTY AKCEPTACYJNE: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Test 1: [opis] — PASS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Test 2: [opis] — PASS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UWAGI KLIENTA: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[brak / lista]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Odbieram projekt jako kompletny i spełniający wymagania.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Podpis klienta: ___________  Data: ___________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Podpis wykonawcy: _________  Data: ___________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— dlaczego klient powinien chcieć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się może stać bez retainera: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zewnętrzne zmienia strukturę → workflow przestaje działać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SaaS aktualizuje się → endpoint przestał istnieć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chce dodać nową integrację → musisz wyceniać od zera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Rotacja pracowników → nowa osoba nie wie jak obsługiwać workflow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produkcyjny → klient nie ma priorytetowego dostępu do ciebie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retainerem: spokój, ciągłość, optymalizacja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Kiedy sprzedawać retainera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sprzedaży: tuż przed zakończeniem projektu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PRZED handoverem, nie po: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jest zaangażowany emocjonalnie (projekt idzie dobrze)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Widzi wartość w działającym systemie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"w trybie inwestycji" (właśnie zapłacił)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zamknięciu projektu: "dziękujemy, wrócimy jak będziemy potrzebować"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to powiedzieć: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"Zanim zamkniemy projekt, chcę porozmawiać o tym co się dzieje po wdrożeniu. Mam klientów którzy biorą retainer i klientów którzy nie biorą — mogę opowiedzieć różnicę."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retainera — co wchodzi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A — 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B — Wsparcie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C — Rozwój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działania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Naprawy błędów (&lt;2h)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Aktualizacje po zmianach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Nowe mikro-workflows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(X godzin/m-c)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reakcja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retainerów — formuła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wycenić retainera: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20 000 PLN → retainer 400–600 PLN/mies. (Tier A) / 800–1 200 PLN/mies. (Tier B)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50 000 PLN → retainer 1 000–1 500 PLN/mies. (Tier A) / 2 000–3 000 PLN/mies. (Tier B)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ta formuła: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widzi że retainer jest "proporcjonalny" do inwestycji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 masz przewidywalny przychód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Wartość projektu to proxy złożoności systemu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Retainer miesięczny = Wartość projektu × 2–3%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Retainer roczny = Wartość projektu × 15–30%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Pasywny przychód z portfela klientów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biznesowy agencji automatyzacji z retainerami: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Kluczowa zasada: każdy projekt to potencjalny retainer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Projekty (aktywny przychód):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2–3 projekty/kwartał × 20–50k = 120–300k PLN/rok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Retainery (pasywny przychód):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 klientów × 1 500 PLN/mies = 18 000 PLN/mies = 216k PLN/rok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Suma: 336–516k PLN/rok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Błędy które popełniłem — top 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Żebyś ty ich nie popełniał: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zaliczki — klient zrezygnował po 30 godzinach pracy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procedury change request — projekt urósł 3x poza scope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Zbyt niskie ceny przez pierwsze 2 lata — referencje bez pieniędzy nie płacą rachunków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bez Discovery — zbudowałem coś czego nikt nie używał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protokołu odbioru — klient "nie pamiętał" że odebrał projekt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Następny krok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Masz teraz wszystko żeby sprzedawać automatyzacje profesjonalnie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pobrania w materiałach kursu: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Szablon wyceny (Markdown/arkusz)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Szablon propozycji handlowej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10 pytań Discovery Call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handover projektu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Kalkulator retainera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domowe: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Przeprowadź mock Discovery Call z kimś ze społeczności kursu — jeden gra klienta, drugi konsultanta. 30 minut. Użyj listy 10 pytań.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Pytania? Wpadnij na społeczność kursu.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BONUS Sprzedaz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kacper@dokodu.it  ·  dokodu.it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Dokodu 2026 — materiały objęte prawami autorskimi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Kurs n8n + AI — Modul_BONUS_Sprzedaz</dc:title>
  <dc:subject>PptxGenJS Presentation</dc:subject>
  <dc:creator>Kacper Sieradzinski | Dokodu</dc:creator>
  <cp:lastModifiedBy>Kacper Sieradzinski | Dokodu</cp:lastModifiedBy>
  <cp:revision>1</cp:revision>
  <dcterms:created xsi:type="dcterms:W3CDTF">2026-03-27T23:06:59Z</dcterms:created>
  <dcterms:modified xsi:type="dcterms:W3CDTF">2026-03-27T23:06:59Z</dcterms:modified>
</cp:coreProperties>
</file>